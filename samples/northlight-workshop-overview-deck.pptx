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a597dfe-7b98-57f5-6530-c40defbeadd4}">
          <p14:sldIdLst>
            <p14:sldId id="256"/>
          </p14:sldIdLst>
        </p14:section>
        <p14:section name="The problem" id="{9849af2f-f709-14e8-dd12-3824d0f68f98}">
          <p14:sldIdLst>
            <p14:sldId id="257"/>
          </p14:sldIdLst>
        </p14:section>
        <p14:section name="The workshop" id="{be04ac12-e421-908f-0171-7fe25b75da50}">
          <p14:sldIdLst>
            <p14:sldId id="258"/>
            <p14:sldId id="259"/>
          </p14:sldIdLst>
        </p14:section>
        <p14:section name="Outcomes" id="{e077e263-7494-3d99-b40d-e4866c966e49}">
          <p14:sldIdLst>
            <p14:sldId id="260"/>
          </p14:sldIdLst>
        </p14:section>
        <p14:section name="About" id="{c2bcb0e0-1fbc-0a90-4439-61eb4f17f0de}">
          <p14:sldIdLst>
            <p14:sldId id="261"/>
          </p14:sldIdLst>
        </p14:section>
        <p14:section name="Next steps" id="{bdbebc8e-deb9-0441-2e1e-831e8a980961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213D"/>
                </a:solidFill>
                <a:latin typeface="+mn-lt"/>
              </a:rPr>
              <a:t>Share of team emails meeting each standard (illustrative pilot data, 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</c:v>
                </c:pt>
              </c:strCache>
            </c:strRef>
          </c:tx>
          <c:spPr>
            <a:solidFill>
              <a:srgbClr val="E6E1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Opens with the point</c:v>
                  </c:pt>
                  <c:pt idx="1">
                    <c:v>Under 150 words</c:v>
                  </c:pt>
                  <c:pt idx="2">
                    <c:v>Clear next step</c:v>
                  </c:pt>
                  <c:pt idx="3">
                    <c:v>Reply within a day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31</c:v>
                </c:pt>
                <c:pt idx="2">
                  <c:v>44</c:v>
                </c:pt>
                <c:pt idx="3">
                  <c:v>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Four weeks after</c:v>
                </c:pt>
              </c:strCache>
            </c:strRef>
          </c:tx>
          <c:spPr>
            <a:solidFill>
              <a:srgbClr val="E9B4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Opens with the point</c:v>
                  </c:pt>
                  <c:pt idx="1">
                    <c:v>Under 150 words</c:v>
                  </c:pt>
                  <c:pt idx="2">
                    <c:v>Clear next step</c:v>
                  </c:pt>
                  <c:pt idx="3">
                    <c:v>Reply within a day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86</c:v>
                </c:pt>
                <c:pt idx="1">
                  <c:v>72</c:v>
                </c:pt>
                <c:pt idx="2">
                  <c:v>91</c:v>
                </c:pt>
                <c:pt idx="3">
                  <c:v>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6E1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6B728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promise: one structure, practised on your own documents, sendable the same afternoon.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room which of the three they see most often. Most teams say all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four modules left to right. Emphasise that the last hour is on their own documents.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 the half-day for Harbourview as the starting point, with coaching for the two partners who write most proposals.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chart is illustrative. In a live proposal, replace it with the client's own baseline from the pre-workshop survey.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short. The credibility comes from the exercises, not the CV.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for the date decision in the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" y="5029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bg1"/>
                </a:solidFill>
              </a:rPr>
              <a:t>NORTHLIGHT LEARNING STUDIO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2011680"/>
            <a:ext cx="87782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2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3886200"/>
            <a:ext cx="7863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548640" y="566928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199632"/>
            <a:ext cx="256032" cy="25603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96112" y="61447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Northlight Learning Studio  |  Business Writing Essentials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144768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_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" y="5029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bg1"/>
                </a:solidFill>
              </a:rPr>
              <a:t>NORTHLIGHT LEARNING STUDIO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1280160"/>
            <a:ext cx="10058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144768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01168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200" b="1" dirty="0">
                <a:solidFill>
                  <a:schemeClr val="bg1"/>
                </a:solidFill>
              </a:rPr>
              <a:t>Business Writing Essentials</a:t>
            </a:r>
            <a:endParaRPr lang="en-US" sz="52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38862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A half-day workshop for teams that need their emails, reports and proposals to be read, decided on and acted upon.</a:t>
            </a:r>
            <a:endParaRPr lang="en-US" sz="22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5669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Workshop overview for Harbourview Consulting Group  |  Dr. Elena Marsh  |  October 2026</a:t>
            </a:r>
            <a:endParaRPr lang="en-US" sz="1400" dirty="0"/>
          </a:p>
        </p:txBody>
      </p:sp>
      <p:pic>
        <p:nvPicPr>
          <p:cNvPr id="5" name="Decorative star" descr="preencoded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9509760" y="1463040"/>
            <a:ext cx="219456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Why workplace writing fails</a:t>
            </a:r>
            <a:endParaRPr lang="en-US" sz="3400" dirty="0"/>
          </a:p>
        </p:txBody>
      </p:sp>
      <p:sp>
        <p:nvSpPr>
          <p:cNvPr id="3" name="Card 1"/>
          <p:cNvSpPr/>
          <p:nvPr/>
        </p:nvSpPr>
        <p:spPr>
          <a:xfrm>
            <a:off x="548640" y="1691640"/>
            <a:ext cx="3454298" cy="36576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Number 1 circle"/>
          <p:cNvSpPr/>
          <p:nvPr/>
        </p:nvSpPr>
        <p:spPr>
          <a:xfrm>
            <a:off x="868680" y="2011680"/>
            <a:ext cx="566928" cy="56692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86868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Card 1 title"/>
          <p:cNvSpPr txBox="1"/>
          <p:nvPr/>
        </p:nvSpPr>
        <p:spPr>
          <a:xfrm>
            <a:off x="868680" y="2788920"/>
            <a:ext cx="28142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The point arrives too late</a:t>
            </a:r>
            <a:endParaRPr lang="en-US" sz="2200" dirty="0"/>
          </a:p>
        </p:txBody>
      </p:sp>
      <p:sp>
        <p:nvSpPr>
          <p:cNvPr id="7" name="Card 1 text"/>
          <p:cNvSpPr txBox="1"/>
          <p:nvPr/>
        </p:nvSpPr>
        <p:spPr>
          <a:xfrm>
            <a:off x="868680" y="3657600"/>
            <a:ext cx="28142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decision or request sits in paragraph four, so busy readers skim past it and reply with a question instead of an answer.</a:t>
            </a:r>
            <a:endParaRPr lang="en-US" sz="1500" dirty="0"/>
          </a:p>
        </p:txBody>
      </p:sp>
      <p:sp>
        <p:nvSpPr>
          <p:cNvPr id="8" name="Card 2"/>
          <p:cNvSpPr/>
          <p:nvPr/>
        </p:nvSpPr>
        <p:spPr>
          <a:xfrm>
            <a:off x="4368698" y="1691640"/>
            <a:ext cx="3454298" cy="36576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Number 2 circle"/>
          <p:cNvSpPr/>
          <p:nvPr/>
        </p:nvSpPr>
        <p:spPr>
          <a:xfrm>
            <a:off x="4688738" y="2011680"/>
            <a:ext cx="566928" cy="56692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Number 2"/>
          <p:cNvSpPr txBox="1"/>
          <p:nvPr/>
        </p:nvSpPr>
        <p:spPr>
          <a:xfrm>
            <a:off x="4688738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Card 2 title"/>
          <p:cNvSpPr txBox="1"/>
          <p:nvPr/>
        </p:nvSpPr>
        <p:spPr>
          <a:xfrm>
            <a:off x="4688738" y="2788920"/>
            <a:ext cx="28142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The reader has to work too hard</a:t>
            </a:r>
            <a:endParaRPr lang="en-US" sz="2200" dirty="0"/>
          </a:p>
        </p:txBody>
      </p:sp>
      <p:sp>
        <p:nvSpPr>
          <p:cNvPr id="12" name="Card 2 text"/>
          <p:cNvSpPr txBox="1"/>
          <p:nvPr/>
        </p:nvSpPr>
        <p:spPr>
          <a:xfrm>
            <a:off x="4688738" y="3657600"/>
            <a:ext cx="28142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Long sentences, internal jargon and walls of text push the effort onto the reader, who gives up or misreads.</a:t>
            </a:r>
            <a:endParaRPr lang="en-US" sz="1500" dirty="0"/>
          </a:p>
        </p:txBody>
      </p:sp>
      <p:sp>
        <p:nvSpPr>
          <p:cNvPr id="13" name="Card 3"/>
          <p:cNvSpPr/>
          <p:nvPr/>
        </p:nvSpPr>
        <p:spPr>
          <a:xfrm>
            <a:off x="8188757" y="1691640"/>
            <a:ext cx="3454298" cy="36576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4" name="Number 3 circle"/>
          <p:cNvSpPr/>
          <p:nvPr/>
        </p:nvSpPr>
        <p:spPr>
          <a:xfrm>
            <a:off x="8508797" y="2011680"/>
            <a:ext cx="566928" cy="56692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Number 3"/>
          <p:cNvSpPr txBox="1"/>
          <p:nvPr/>
        </p:nvSpPr>
        <p:spPr>
          <a:xfrm>
            <a:off x="8508797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Card 3 title"/>
          <p:cNvSpPr txBox="1"/>
          <p:nvPr/>
        </p:nvSpPr>
        <p:spPr>
          <a:xfrm>
            <a:off x="8508797" y="2788920"/>
            <a:ext cx="28142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The next step is unclear</a:t>
            </a:r>
            <a:endParaRPr lang="en-US" sz="2200" dirty="0"/>
          </a:p>
        </p:txBody>
      </p:sp>
      <p:sp>
        <p:nvSpPr>
          <p:cNvPr id="17" name="Card 3 text"/>
          <p:cNvSpPr txBox="1"/>
          <p:nvPr/>
        </p:nvSpPr>
        <p:spPr>
          <a:xfrm>
            <a:off x="8508797" y="3657600"/>
            <a:ext cx="28142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 owner, no date and no explicit ask, so the document is read, agreed with and then nothing happens.</a:t>
            </a:r>
            <a:endParaRPr lang="en-US" sz="1500" dirty="0"/>
          </a:p>
        </p:txBody>
      </p:sp>
      <p:sp>
        <p:nvSpPr>
          <p:cNvPr id="18" name="Takeaway"/>
          <p:cNvSpPr txBox="1"/>
          <p:nvPr/>
        </p:nvSpPr>
        <p:spPr>
          <a:xfrm>
            <a:off x="548640" y="55778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2"/>
                </a:solidFill>
              </a:rPr>
              <a:t>One structure fixes all three, and it takes a morning to learn.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144768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the half-day covers</a:t>
            </a:r>
            <a:endParaRPr lang="en-US" sz="3400" dirty="0"/>
          </a:p>
        </p:txBody>
      </p:sp>
      <p:sp>
        <p:nvSpPr>
          <p:cNvPr id="3" name="Step 1 time"/>
          <p:cNvSpPr txBox="1"/>
          <p:nvPr/>
        </p:nvSpPr>
        <p:spPr>
          <a:xfrm>
            <a:off x="548640" y="1828800"/>
            <a:ext cx="2567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</a:rPr>
              <a:t>9:00</a:t>
            </a:r>
            <a:endParaRPr lang="en-US" sz="1400" dirty="0"/>
          </a:p>
        </p:txBody>
      </p:sp>
      <p:sp>
        <p:nvSpPr>
          <p:cNvPr id="4" name="Number 1 circle"/>
          <p:cNvSpPr/>
          <p:nvPr/>
        </p:nvSpPr>
        <p:spPr>
          <a:xfrm>
            <a:off x="548640" y="2331720"/>
            <a:ext cx="566928" cy="56692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54864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Connector 1"/>
          <p:cNvSpPr/>
          <p:nvPr/>
        </p:nvSpPr>
        <p:spPr>
          <a:xfrm>
            <a:off x="1188720" y="2615184"/>
            <a:ext cx="2202104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7" name="Step 1 title"/>
          <p:cNvSpPr txBox="1"/>
          <p:nvPr/>
        </p:nvSpPr>
        <p:spPr>
          <a:xfrm>
            <a:off x="548640" y="3108960"/>
            <a:ext cx="2567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Start with the point</a:t>
            </a:r>
            <a:endParaRPr lang="en-US" sz="2000" dirty="0"/>
          </a:p>
        </p:txBody>
      </p:sp>
      <p:sp>
        <p:nvSpPr>
          <p:cNvPr id="8" name="Step 1 text"/>
          <p:cNvSpPr txBox="1"/>
          <p:nvPr/>
        </p:nvSpPr>
        <p:spPr>
          <a:xfrm>
            <a:off x="548640" y="4023360"/>
            <a:ext cx="25678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Rewrite real emails so the decision or request comes first</a:t>
            </a:r>
            <a:endParaRPr lang="en-US" sz="1400" dirty="0"/>
          </a:p>
        </p:txBody>
      </p:sp>
      <p:sp>
        <p:nvSpPr>
          <p:cNvPr id="9" name="Step 2 time"/>
          <p:cNvSpPr txBox="1"/>
          <p:nvPr/>
        </p:nvSpPr>
        <p:spPr>
          <a:xfrm>
            <a:off x="3390824" y="1828800"/>
            <a:ext cx="2567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</a:rPr>
              <a:t>10:00</a:t>
            </a:r>
            <a:endParaRPr lang="en-US" sz="1400" dirty="0"/>
          </a:p>
        </p:txBody>
      </p:sp>
      <p:sp>
        <p:nvSpPr>
          <p:cNvPr id="10" name="Number 2 circle"/>
          <p:cNvSpPr/>
          <p:nvPr/>
        </p:nvSpPr>
        <p:spPr>
          <a:xfrm>
            <a:off x="3390824" y="2331720"/>
            <a:ext cx="566928" cy="56692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Number 2"/>
          <p:cNvSpPr txBox="1"/>
          <p:nvPr/>
        </p:nvSpPr>
        <p:spPr>
          <a:xfrm>
            <a:off x="3390824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Connector 2"/>
          <p:cNvSpPr/>
          <p:nvPr/>
        </p:nvSpPr>
        <p:spPr>
          <a:xfrm>
            <a:off x="4030904" y="2615184"/>
            <a:ext cx="2202104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3" name="Step 2 title"/>
          <p:cNvSpPr txBox="1"/>
          <p:nvPr/>
        </p:nvSpPr>
        <p:spPr>
          <a:xfrm>
            <a:off x="3390824" y="3108960"/>
            <a:ext cx="2567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Write for the reader</a:t>
            </a:r>
            <a:endParaRPr lang="en-US" sz="2000" dirty="0"/>
          </a:p>
        </p:txBody>
      </p:sp>
      <p:sp>
        <p:nvSpPr>
          <p:cNvPr id="14" name="Step 2 text"/>
          <p:cNvSpPr txBox="1"/>
          <p:nvPr/>
        </p:nvSpPr>
        <p:spPr>
          <a:xfrm>
            <a:off x="3390824" y="4023360"/>
            <a:ext cx="25678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Cut jargon, shorten sentences, use headings and lists</a:t>
            </a:r>
            <a:endParaRPr lang="en-US" sz="1400" dirty="0"/>
          </a:p>
        </p:txBody>
      </p:sp>
      <p:sp>
        <p:nvSpPr>
          <p:cNvPr id="15" name="Step 3 time"/>
          <p:cNvSpPr txBox="1"/>
          <p:nvPr/>
        </p:nvSpPr>
        <p:spPr>
          <a:xfrm>
            <a:off x="6233008" y="1828800"/>
            <a:ext cx="2567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</a:rPr>
              <a:t>11:00</a:t>
            </a:r>
            <a:endParaRPr lang="en-US" sz="1400" dirty="0"/>
          </a:p>
        </p:txBody>
      </p:sp>
      <p:sp>
        <p:nvSpPr>
          <p:cNvPr id="16" name="Number 3 circle"/>
          <p:cNvSpPr/>
          <p:nvPr/>
        </p:nvSpPr>
        <p:spPr>
          <a:xfrm>
            <a:off x="6233008" y="2331720"/>
            <a:ext cx="566928" cy="56692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Number 3"/>
          <p:cNvSpPr txBox="1"/>
          <p:nvPr/>
        </p:nvSpPr>
        <p:spPr>
          <a:xfrm>
            <a:off x="6233008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Connector 3"/>
          <p:cNvSpPr/>
          <p:nvPr/>
        </p:nvSpPr>
        <p:spPr>
          <a:xfrm>
            <a:off x="6873088" y="2615184"/>
            <a:ext cx="2202104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9" name="Step 3 title"/>
          <p:cNvSpPr txBox="1"/>
          <p:nvPr/>
        </p:nvSpPr>
        <p:spPr>
          <a:xfrm>
            <a:off x="6233008" y="3108960"/>
            <a:ext cx="2567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Make the next step obvious</a:t>
            </a:r>
            <a:endParaRPr lang="en-US" sz="2000" dirty="0"/>
          </a:p>
        </p:txBody>
      </p:sp>
      <p:sp>
        <p:nvSpPr>
          <p:cNvPr id="20" name="Step 3 text"/>
          <p:cNvSpPr txBox="1"/>
          <p:nvPr/>
        </p:nvSpPr>
        <p:spPr>
          <a:xfrm>
            <a:off x="6233008" y="4023360"/>
            <a:ext cx="25678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Clear calls to action, deadlines and ownership</a:t>
            </a:r>
            <a:endParaRPr lang="en-US" sz="1400" dirty="0"/>
          </a:p>
        </p:txBody>
      </p:sp>
      <p:sp>
        <p:nvSpPr>
          <p:cNvPr id="21" name="Step 4 time"/>
          <p:cNvSpPr txBox="1"/>
          <p:nvPr/>
        </p:nvSpPr>
        <p:spPr>
          <a:xfrm>
            <a:off x="9075191" y="1828800"/>
            <a:ext cx="2567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</a:rPr>
              <a:t>12:00</a:t>
            </a:r>
            <a:endParaRPr lang="en-US" sz="1400" dirty="0"/>
          </a:p>
        </p:txBody>
      </p:sp>
      <p:sp>
        <p:nvSpPr>
          <p:cNvPr id="22" name="Number 4 circle"/>
          <p:cNvSpPr/>
          <p:nvPr/>
        </p:nvSpPr>
        <p:spPr>
          <a:xfrm>
            <a:off x="9075191" y="2331720"/>
            <a:ext cx="566928" cy="56692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3" name="Number 4"/>
          <p:cNvSpPr txBox="1"/>
          <p:nvPr/>
        </p:nvSpPr>
        <p:spPr>
          <a:xfrm>
            <a:off x="9075191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Step 4 title"/>
          <p:cNvSpPr txBox="1"/>
          <p:nvPr/>
        </p:nvSpPr>
        <p:spPr>
          <a:xfrm>
            <a:off x="9075191" y="3108960"/>
            <a:ext cx="2567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Apply it</a:t>
            </a:r>
            <a:endParaRPr lang="en-US" sz="2000" dirty="0"/>
          </a:p>
        </p:txBody>
      </p:sp>
      <p:sp>
        <p:nvSpPr>
          <p:cNvPr id="25" name="Step 4 text"/>
          <p:cNvSpPr txBox="1"/>
          <p:nvPr/>
        </p:nvSpPr>
        <p:spPr>
          <a:xfrm>
            <a:off x="9075191" y="4023360"/>
            <a:ext cx="25678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Rewrite one document from your own inbox and get feedback</a:t>
            </a:r>
            <a:endParaRPr lang="en-US" sz="1400" dirty="0"/>
          </a:p>
        </p:txBody>
      </p:sp>
      <p:sp>
        <p:nvSpPr>
          <p:cNvPr id="26" name="Format note"/>
          <p:cNvSpPr/>
          <p:nvPr/>
        </p:nvSpPr>
        <p:spPr>
          <a:xfrm>
            <a:off x="548640" y="5486400"/>
            <a:ext cx="11094415" cy="6858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7" name="Format text"/>
          <p:cNvSpPr txBox="1"/>
          <p:nvPr/>
        </p:nvSpPr>
        <p:spPr>
          <a:xfrm>
            <a:off x="822960" y="54864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Format: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3.5 hours online or on-site, 6 to 16 participants, every exercise on documents the team brings with them.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144768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Three ways to work with us</a:t>
            </a:r>
            <a:endParaRPr lang="en-US" sz="3400" dirty="0"/>
          </a:p>
        </p:txBody>
      </p:sp>
      <p:sp>
        <p:nvSpPr>
          <p:cNvPr id="3" name="Option 1"/>
          <p:cNvSpPr/>
          <p:nvPr/>
        </p:nvSpPr>
        <p:spPr>
          <a:xfrm>
            <a:off x="548640" y="1691640"/>
            <a:ext cx="3454298" cy="416052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Option 1 title"/>
          <p:cNvSpPr txBox="1"/>
          <p:nvPr/>
        </p:nvSpPr>
        <p:spPr>
          <a:xfrm>
            <a:off x="868680" y="1965960"/>
            <a:ext cx="2814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Half-day workshop</a:t>
            </a:r>
            <a:endParaRPr lang="en-US" sz="2200" dirty="0"/>
          </a:p>
        </p:txBody>
      </p:sp>
      <p:sp>
        <p:nvSpPr>
          <p:cNvPr id="5" name="Option 1 price"/>
          <p:cNvSpPr txBox="1"/>
          <p:nvPr/>
        </p:nvSpPr>
        <p:spPr>
          <a:xfrm>
            <a:off x="868680" y="2606040"/>
            <a:ext cx="28142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From CAD 1,200</a:t>
            </a:r>
            <a:endParaRPr lang="en-US" sz="3000" dirty="0"/>
          </a:p>
        </p:txBody>
      </p:sp>
      <p:sp>
        <p:nvSpPr>
          <p:cNvPr id="6" name="Option 1 Duration label"/>
          <p:cNvSpPr txBox="1"/>
          <p:nvPr/>
        </p:nvSpPr>
        <p:spPr>
          <a:xfrm>
            <a:off x="868680" y="352044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Duration</a:t>
            </a:r>
            <a:endParaRPr lang="en-US" sz="1200" dirty="0"/>
          </a:p>
        </p:txBody>
      </p:sp>
      <p:sp>
        <p:nvSpPr>
          <p:cNvPr id="7" name="Option 1 Duration"/>
          <p:cNvSpPr txBox="1"/>
          <p:nvPr/>
        </p:nvSpPr>
        <p:spPr>
          <a:xfrm>
            <a:off x="1920240" y="3520440"/>
            <a:ext cx="176265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3.5 hours</a:t>
            </a:r>
            <a:endParaRPr lang="en-US" sz="1400" dirty="0"/>
          </a:p>
        </p:txBody>
      </p:sp>
      <p:sp>
        <p:nvSpPr>
          <p:cNvPr id="8" name="Option 1 Group size label"/>
          <p:cNvSpPr txBox="1"/>
          <p:nvPr/>
        </p:nvSpPr>
        <p:spPr>
          <a:xfrm>
            <a:off x="868680" y="4233672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Group size</a:t>
            </a:r>
            <a:endParaRPr lang="en-US" sz="1200" dirty="0"/>
          </a:p>
        </p:txBody>
      </p:sp>
      <p:sp>
        <p:nvSpPr>
          <p:cNvPr id="9" name="Option 1 Group size"/>
          <p:cNvSpPr txBox="1"/>
          <p:nvPr/>
        </p:nvSpPr>
        <p:spPr>
          <a:xfrm>
            <a:off x="1920240" y="4233672"/>
            <a:ext cx="176265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 to 16 people</a:t>
            </a:r>
            <a:endParaRPr lang="en-US" sz="1400" dirty="0"/>
          </a:p>
        </p:txBody>
      </p:sp>
      <p:sp>
        <p:nvSpPr>
          <p:cNvPr id="10" name="Option 1 Best for label"/>
          <p:cNvSpPr txBox="1"/>
          <p:nvPr/>
        </p:nvSpPr>
        <p:spPr>
          <a:xfrm>
            <a:off x="868680" y="4946904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Best for</a:t>
            </a:r>
            <a:endParaRPr lang="en-US" sz="1200" dirty="0"/>
          </a:p>
        </p:txBody>
      </p:sp>
      <p:sp>
        <p:nvSpPr>
          <p:cNvPr id="11" name="Option 1 Best for"/>
          <p:cNvSpPr txBox="1"/>
          <p:nvPr/>
        </p:nvSpPr>
        <p:spPr>
          <a:xfrm>
            <a:off x="1920240" y="4946904"/>
            <a:ext cx="176265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Teams that need one shared writing standard fast</a:t>
            </a:r>
            <a:endParaRPr lang="en-US" sz="1400" dirty="0"/>
          </a:p>
        </p:txBody>
      </p:sp>
      <p:sp>
        <p:nvSpPr>
          <p:cNvPr id="12" name="Option 2"/>
          <p:cNvSpPr/>
          <p:nvPr/>
        </p:nvSpPr>
        <p:spPr>
          <a:xfrm>
            <a:off x="4368698" y="1691640"/>
            <a:ext cx="3454298" cy="416052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3" name="Option 2 title"/>
          <p:cNvSpPr txBox="1"/>
          <p:nvPr/>
        </p:nvSpPr>
        <p:spPr>
          <a:xfrm>
            <a:off x="4688738" y="1965960"/>
            <a:ext cx="2814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Full-day workshop</a:t>
            </a:r>
            <a:endParaRPr lang="en-US" sz="2200" dirty="0"/>
          </a:p>
        </p:txBody>
      </p:sp>
      <p:sp>
        <p:nvSpPr>
          <p:cNvPr id="14" name="Option 2 price"/>
          <p:cNvSpPr txBox="1"/>
          <p:nvPr/>
        </p:nvSpPr>
        <p:spPr>
          <a:xfrm>
            <a:off x="4688738" y="2606040"/>
            <a:ext cx="28142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From CAD 2,100</a:t>
            </a:r>
            <a:endParaRPr lang="en-US" sz="3000" dirty="0"/>
          </a:p>
        </p:txBody>
      </p:sp>
      <p:sp>
        <p:nvSpPr>
          <p:cNvPr id="15" name="Option 2 Duration label"/>
          <p:cNvSpPr txBox="1"/>
          <p:nvPr/>
        </p:nvSpPr>
        <p:spPr>
          <a:xfrm>
            <a:off x="4688738" y="352044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Duration</a:t>
            </a:r>
            <a:endParaRPr lang="en-US" sz="1200" dirty="0"/>
          </a:p>
        </p:txBody>
      </p:sp>
      <p:sp>
        <p:nvSpPr>
          <p:cNvPr id="16" name="Option 2 Duration"/>
          <p:cNvSpPr txBox="1"/>
          <p:nvPr/>
        </p:nvSpPr>
        <p:spPr>
          <a:xfrm>
            <a:off x="5740298" y="3520440"/>
            <a:ext cx="176265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7 hours</a:t>
            </a:r>
            <a:endParaRPr lang="en-US" sz="1400" dirty="0"/>
          </a:p>
        </p:txBody>
      </p:sp>
      <p:sp>
        <p:nvSpPr>
          <p:cNvPr id="17" name="Option 2 Group size label"/>
          <p:cNvSpPr txBox="1"/>
          <p:nvPr/>
        </p:nvSpPr>
        <p:spPr>
          <a:xfrm>
            <a:off x="4688738" y="4233672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Group size</a:t>
            </a:r>
            <a:endParaRPr lang="en-US" sz="1200" dirty="0"/>
          </a:p>
        </p:txBody>
      </p:sp>
      <p:sp>
        <p:nvSpPr>
          <p:cNvPr id="18" name="Option 2 Group size"/>
          <p:cNvSpPr txBox="1"/>
          <p:nvPr/>
        </p:nvSpPr>
        <p:spPr>
          <a:xfrm>
            <a:off x="5740298" y="4233672"/>
            <a:ext cx="176265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 to 16 people</a:t>
            </a:r>
            <a:endParaRPr lang="en-US" sz="1400" dirty="0"/>
          </a:p>
        </p:txBody>
      </p:sp>
      <p:sp>
        <p:nvSpPr>
          <p:cNvPr id="19" name="Option 2 Best for label"/>
          <p:cNvSpPr txBox="1"/>
          <p:nvPr/>
        </p:nvSpPr>
        <p:spPr>
          <a:xfrm>
            <a:off x="4688738" y="4946904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Best for</a:t>
            </a:r>
            <a:endParaRPr lang="en-US" sz="1200" dirty="0"/>
          </a:p>
        </p:txBody>
      </p:sp>
      <p:sp>
        <p:nvSpPr>
          <p:cNvPr id="20" name="Option 2 Best for"/>
          <p:cNvSpPr txBox="1"/>
          <p:nvPr/>
        </p:nvSpPr>
        <p:spPr>
          <a:xfrm>
            <a:off x="5740298" y="4946904"/>
            <a:ext cx="176265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Teams writing long reports and proposals</a:t>
            </a:r>
            <a:endParaRPr lang="en-US" sz="1400" dirty="0"/>
          </a:p>
        </p:txBody>
      </p:sp>
      <p:sp>
        <p:nvSpPr>
          <p:cNvPr id="21" name="Option 3"/>
          <p:cNvSpPr/>
          <p:nvPr/>
        </p:nvSpPr>
        <p:spPr>
          <a:xfrm>
            <a:off x="8188757" y="1691640"/>
            <a:ext cx="3454298" cy="416052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2" name="Option 3 title"/>
          <p:cNvSpPr txBox="1"/>
          <p:nvPr/>
        </p:nvSpPr>
        <p:spPr>
          <a:xfrm>
            <a:off x="8508797" y="1965960"/>
            <a:ext cx="2814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One-to-one coaching</a:t>
            </a:r>
            <a:endParaRPr lang="en-US" sz="2200" dirty="0"/>
          </a:p>
        </p:txBody>
      </p:sp>
      <p:sp>
        <p:nvSpPr>
          <p:cNvPr id="23" name="Option 3 price"/>
          <p:cNvSpPr txBox="1"/>
          <p:nvPr/>
        </p:nvSpPr>
        <p:spPr>
          <a:xfrm>
            <a:off x="8508797" y="2606040"/>
            <a:ext cx="28142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From CAD 800</a:t>
            </a:r>
            <a:endParaRPr lang="en-US" sz="3000" dirty="0"/>
          </a:p>
        </p:txBody>
      </p:sp>
      <p:sp>
        <p:nvSpPr>
          <p:cNvPr id="24" name="Option 3 Duration label"/>
          <p:cNvSpPr txBox="1"/>
          <p:nvPr/>
        </p:nvSpPr>
        <p:spPr>
          <a:xfrm>
            <a:off x="8508797" y="352044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Duration</a:t>
            </a:r>
            <a:endParaRPr lang="en-US" sz="1200" dirty="0"/>
          </a:p>
        </p:txBody>
      </p:sp>
      <p:sp>
        <p:nvSpPr>
          <p:cNvPr id="25" name="Option 3 Duration"/>
          <p:cNvSpPr txBox="1"/>
          <p:nvPr/>
        </p:nvSpPr>
        <p:spPr>
          <a:xfrm>
            <a:off x="9560357" y="3520440"/>
            <a:ext cx="176265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4 x 60 minutes</a:t>
            </a:r>
            <a:endParaRPr lang="en-US" sz="1400" dirty="0"/>
          </a:p>
        </p:txBody>
      </p:sp>
      <p:sp>
        <p:nvSpPr>
          <p:cNvPr id="26" name="Option 3 Group size label"/>
          <p:cNvSpPr txBox="1"/>
          <p:nvPr/>
        </p:nvSpPr>
        <p:spPr>
          <a:xfrm>
            <a:off x="8508797" y="4233672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Group size</a:t>
            </a:r>
            <a:endParaRPr lang="en-US" sz="1200" dirty="0"/>
          </a:p>
        </p:txBody>
      </p:sp>
      <p:sp>
        <p:nvSpPr>
          <p:cNvPr id="27" name="Option 3 Group size"/>
          <p:cNvSpPr txBox="1"/>
          <p:nvPr/>
        </p:nvSpPr>
        <p:spPr>
          <a:xfrm>
            <a:off x="9560357" y="4233672"/>
            <a:ext cx="176265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 person</a:t>
            </a:r>
            <a:endParaRPr lang="en-US" sz="1400" dirty="0"/>
          </a:p>
        </p:txBody>
      </p:sp>
      <p:sp>
        <p:nvSpPr>
          <p:cNvPr id="28" name="Option 3 Best for label"/>
          <p:cNvSpPr txBox="1"/>
          <p:nvPr/>
        </p:nvSpPr>
        <p:spPr>
          <a:xfrm>
            <a:off x="8508797" y="4946904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Best for</a:t>
            </a:r>
            <a:endParaRPr lang="en-US" sz="1200" dirty="0"/>
          </a:p>
        </p:txBody>
      </p:sp>
      <p:sp>
        <p:nvSpPr>
          <p:cNvPr id="29" name="Option 3 Best for"/>
          <p:cNvSpPr txBox="1"/>
          <p:nvPr/>
        </p:nvSpPr>
        <p:spPr>
          <a:xfrm>
            <a:off x="9560357" y="4946904"/>
            <a:ext cx="176265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Managers and specialists preparing high-stakes documents</a:t>
            </a:r>
            <a:endParaRPr lang="en-US" sz="1400" dirty="0"/>
          </a:p>
        </p:txBody>
      </p:sp>
      <p:sp>
        <p:nvSpPr>
          <p:cNvPr id="30" name="Inclusions"/>
          <p:cNvSpPr txBox="1"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All formats include a pre-session survey, a participant workbook and a four-week follow-up review.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144768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changes after the workshop</a:t>
            </a:r>
            <a:endParaRPr lang="en-US" sz="3400" dirty="0"/>
          </a:p>
        </p:txBody>
      </p:sp>
      <p:graphicFrame>
        <p:nvGraphicFramePr>
          <p:cNvPr id="3" name="Illustrative results chart" descr=""/>
          <p:cNvGraphicFramePr/>
          <p:nvPr/>
        </p:nvGraphicFramePr>
        <p:xfrm>
          <a:off x="548640" y="1554480"/>
          <a:ext cx="67665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Outcomes heading"/>
          <p:cNvSpPr txBox="1"/>
          <p:nvPr/>
        </p:nvSpPr>
        <p:spPr>
          <a:xfrm>
            <a:off x="7680960" y="1600200"/>
            <a:ext cx="3962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Participants leave with</a:t>
            </a:r>
            <a:endParaRPr lang="en-US" sz="2000" dirty="0"/>
          </a:p>
        </p:txBody>
      </p:sp>
      <p:sp>
        <p:nvSpPr>
          <p:cNvPr id="5" name="Outcome 1 dot"/>
          <p:cNvSpPr/>
          <p:nvPr/>
        </p:nvSpPr>
        <p:spPr>
          <a:xfrm>
            <a:off x="7680960" y="2313432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Outcome 1"/>
          <p:cNvSpPr txBox="1"/>
          <p:nvPr/>
        </p:nvSpPr>
        <p:spPr>
          <a:xfrm>
            <a:off x="8028432" y="2240280"/>
            <a:ext cx="361462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 three-part structure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that works for any email, report or proposal</a:t>
            </a:r>
            <a:endParaRPr lang="en-US" sz="1500" dirty="0"/>
          </a:p>
        </p:txBody>
      </p:sp>
      <p:sp>
        <p:nvSpPr>
          <p:cNvPr id="7" name="Outcome 2 dot"/>
          <p:cNvSpPr/>
          <p:nvPr/>
        </p:nvSpPr>
        <p:spPr>
          <a:xfrm>
            <a:off x="7680960" y="3182112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Outcome 2"/>
          <p:cNvSpPr txBox="1"/>
          <p:nvPr/>
        </p:nvSpPr>
        <p:spPr>
          <a:xfrm>
            <a:off x="8028432" y="3108960"/>
            <a:ext cx="361462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 one-page editing checklist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for the team's shared drive</a:t>
            </a:r>
            <a:endParaRPr lang="en-US" sz="1500" dirty="0"/>
          </a:p>
        </p:txBody>
      </p:sp>
      <p:sp>
        <p:nvSpPr>
          <p:cNvPr id="9" name="Outcome 3 dot"/>
          <p:cNvSpPr/>
          <p:nvPr/>
        </p:nvSpPr>
        <p:spPr>
          <a:xfrm>
            <a:off x="7680960" y="4050792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Outcome 3"/>
          <p:cNvSpPr txBox="1"/>
          <p:nvPr/>
        </p:nvSpPr>
        <p:spPr>
          <a:xfrm>
            <a:off x="8028432" y="3977640"/>
            <a:ext cx="361462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One real document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rewritten, reviewed and ready to send</a:t>
            </a:r>
            <a:endParaRPr lang="en-US" sz="1500" dirty="0"/>
          </a:p>
        </p:txBody>
      </p:sp>
      <p:sp>
        <p:nvSpPr>
          <p:cNvPr id="11" name="Outcome 4 dot"/>
          <p:cNvSpPr/>
          <p:nvPr/>
        </p:nvSpPr>
        <p:spPr>
          <a:xfrm>
            <a:off x="7680960" y="4919472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Outcome 4"/>
          <p:cNvSpPr txBox="1"/>
          <p:nvPr/>
        </p:nvSpPr>
        <p:spPr>
          <a:xfrm>
            <a:off x="8028432" y="4846320"/>
            <a:ext cx="361462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 follow-up review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of three more documents, four weeks later</a:t>
            </a:r>
            <a:endParaRPr lang="en-US" sz="1500" dirty="0"/>
          </a:p>
        </p:txBody>
      </p:sp>
      <p:sp>
        <p:nvSpPr>
          <p:cNvPr id="13" name="Chart caption"/>
          <p:cNvSpPr txBox="1"/>
          <p:nvPr/>
        </p:nvSpPr>
        <p:spPr>
          <a:xfrm>
            <a:off x="548640" y="58064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Chart shows sample data to illustrate how results are reported after a pilot cohort.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144768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About the facilitator</a:t>
            </a:r>
            <a:endParaRPr lang="en-US" sz="3400" dirty="0"/>
          </a:p>
        </p:txBody>
      </p:sp>
      <p:sp>
        <p:nvSpPr>
          <p:cNvPr id="3" name="Portrait placeholder"/>
          <p:cNvSpPr/>
          <p:nvPr/>
        </p:nvSpPr>
        <p:spPr>
          <a:xfrm>
            <a:off x="731520" y="1828800"/>
            <a:ext cx="2377440" cy="2377440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accent1"/>
            </a:solidFill>
            <a:prstDash val="solid"/>
          </a:ln>
        </p:spPr>
      </p:sp>
      <p:sp>
        <p:nvSpPr>
          <p:cNvPr id="4" name="Initials"/>
          <p:cNvSpPr txBox="1"/>
          <p:nvPr/>
        </p:nvSpPr>
        <p:spPr>
          <a:xfrm>
            <a:off x="731520" y="182880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bg2"/>
                </a:solidFill>
              </a:rPr>
              <a:t>EM</a:t>
            </a:r>
            <a:endParaRPr lang="en-US" sz="6000" dirty="0"/>
          </a:p>
        </p:txBody>
      </p:sp>
      <p:sp>
        <p:nvSpPr>
          <p:cNvPr id="5" name="Name"/>
          <p:cNvSpPr txBox="1"/>
          <p:nvPr/>
        </p:nvSpPr>
        <p:spPr>
          <a:xfrm>
            <a:off x="3657600" y="1737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Dr. Elena Marsh</a:t>
            </a:r>
            <a:endParaRPr lang="en-US" sz="2800" dirty="0"/>
          </a:p>
        </p:txBody>
      </p:sp>
      <p:sp>
        <p:nvSpPr>
          <p:cNvPr id="6" name="Role"/>
          <p:cNvSpPr txBox="1"/>
          <p:nvPr/>
        </p:nvSpPr>
        <p:spPr>
          <a:xfrm>
            <a:off x="3657600" y="22860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Founder, Northlight Learning Studio | Lecturer in Business Communication</a:t>
            </a:r>
            <a:endParaRPr lang="en-US" sz="1500" dirty="0"/>
          </a:p>
        </p:txBody>
      </p:sp>
      <p:sp>
        <p:nvSpPr>
          <p:cNvPr id="7" name="Bio"/>
          <p:cNvSpPr txBox="1"/>
          <p:nvPr/>
        </p:nvSpPr>
        <p:spPr>
          <a:xfrm>
            <a:off x="3657600" y="278892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Elena teaches business communication at university level and founded Northlight Learning Studio to bring the same clarity to working professionals. Her workshops are practical by design: participants rewrite their own documents in the room and leave with something they can send the same afternoon.</a:t>
            </a:r>
            <a:endParaRPr lang="en-US" sz="1500" dirty="0"/>
          </a:p>
        </p:txBody>
      </p:sp>
      <p:sp>
        <p:nvSpPr>
          <p:cNvPr id="8" name="Stat 1 value"/>
          <p:cNvSpPr txBox="1"/>
          <p:nvPr/>
        </p:nvSpPr>
        <p:spPr>
          <a:xfrm>
            <a:off x="3657600" y="43434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12</a:t>
            </a:r>
            <a:endParaRPr lang="en-US" sz="4000" dirty="0"/>
          </a:p>
        </p:txBody>
      </p:sp>
      <p:sp>
        <p:nvSpPr>
          <p:cNvPr id="9" name="Stat 1 label"/>
          <p:cNvSpPr txBox="1"/>
          <p:nvPr/>
        </p:nvSpPr>
        <p:spPr>
          <a:xfrm>
            <a:off x="3657600" y="5074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years teaching</a:t>
            </a:r>
            <a:endParaRPr lang="en-US" sz="1300" dirty="0"/>
          </a:p>
        </p:txBody>
      </p:sp>
      <p:sp>
        <p:nvSpPr>
          <p:cNvPr id="10" name="Stat 2 value"/>
          <p:cNvSpPr txBox="1"/>
          <p:nvPr/>
        </p:nvSpPr>
        <p:spPr>
          <a:xfrm>
            <a:off x="6309360" y="43434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3,000+</a:t>
            </a:r>
            <a:endParaRPr lang="en-US" sz="4000" dirty="0"/>
          </a:p>
        </p:txBody>
      </p:sp>
      <p:sp>
        <p:nvSpPr>
          <p:cNvPr id="11" name="Stat 2 label"/>
          <p:cNvSpPr txBox="1"/>
          <p:nvPr/>
        </p:nvSpPr>
        <p:spPr>
          <a:xfrm>
            <a:off x="6309360" y="5074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students and professionals</a:t>
            </a:r>
            <a:endParaRPr lang="en-US" sz="1300" dirty="0"/>
          </a:p>
        </p:txBody>
      </p:sp>
      <p:sp>
        <p:nvSpPr>
          <p:cNvPr id="12" name="Stat 3 value"/>
          <p:cNvSpPr txBox="1"/>
          <p:nvPr/>
        </p:nvSpPr>
        <p:spPr>
          <a:xfrm>
            <a:off x="8961120" y="43434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40+</a:t>
            </a:r>
            <a:endParaRPr lang="en-US" sz="4000" dirty="0"/>
          </a:p>
        </p:txBody>
      </p:sp>
      <p:sp>
        <p:nvSpPr>
          <p:cNvPr id="13" name="Stat 3 label"/>
          <p:cNvSpPr txBox="1"/>
          <p:nvPr/>
        </p:nvSpPr>
        <p:spPr>
          <a:xfrm>
            <a:off x="8961120" y="5074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team workshops</a:t>
            </a:r>
            <a:endParaRPr lang="en-US" sz="1300" dirty="0"/>
          </a:p>
        </p:txBody>
      </p:sp>
      <p:sp>
        <p:nvSpPr>
          <p:cNvPr id="14" name="Credentials"/>
          <p:cNvSpPr txBox="1"/>
          <p:nvPr/>
        </p:nvSpPr>
        <p:spPr>
          <a:xfrm>
            <a:off x="3657600" y="5623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PhD, Communication Studies  |  MA, Applied Linguistics  |  Certified Adult Educator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144768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12801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Next steps</a:t>
            </a:r>
            <a:endParaRPr lang="en-US" sz="4000" dirty="0"/>
          </a:p>
        </p:txBody>
      </p:sp>
      <p:sp>
        <p:nvSpPr>
          <p:cNvPr id="3" name="Next 1 circle"/>
          <p:cNvSpPr/>
          <p:nvPr/>
        </p:nvSpPr>
        <p:spPr>
          <a:xfrm>
            <a:off x="548640" y="251460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Next 1 number"/>
          <p:cNvSpPr txBox="1"/>
          <p:nvPr/>
        </p:nvSpPr>
        <p:spPr>
          <a:xfrm>
            <a:off x="548640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Next 1 text"/>
          <p:cNvSpPr txBox="1"/>
          <p:nvPr/>
        </p:nvSpPr>
        <p:spPr>
          <a:xfrm>
            <a:off x="1325880" y="251460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Choose a date  </a:t>
            </a:r>
            <a:pPr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Tuesday 4 November or Thursday 13 November, 9:00 to 12:30 Atlantic</a:t>
            </a:r>
            <a:endParaRPr lang="en-US" sz="1700" dirty="0"/>
          </a:p>
        </p:txBody>
      </p:sp>
      <p:sp>
        <p:nvSpPr>
          <p:cNvPr id="6" name="Next 2 circle"/>
          <p:cNvSpPr/>
          <p:nvPr/>
        </p:nvSpPr>
        <p:spPr>
          <a:xfrm>
            <a:off x="548640" y="34747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ext 2 number"/>
          <p:cNvSpPr txBox="1"/>
          <p:nvPr/>
        </p:nvSpPr>
        <p:spPr>
          <a:xfrm>
            <a:off x="548640" y="3474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Next 2 text"/>
          <p:cNvSpPr txBox="1"/>
          <p:nvPr/>
        </p:nvSpPr>
        <p:spPr>
          <a:xfrm>
            <a:off x="1325880" y="34747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Nominate participants  </a:t>
            </a:r>
            <a:pPr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Up to 16 people; the pre-workshop survey goes out within two working days</a:t>
            </a:r>
            <a:endParaRPr lang="en-US" sz="1700" dirty="0"/>
          </a:p>
        </p:txBody>
      </p:sp>
      <p:sp>
        <p:nvSpPr>
          <p:cNvPr id="9" name="Next 3 circle"/>
          <p:cNvSpPr/>
          <p:nvPr/>
        </p:nvSpPr>
        <p:spPr>
          <a:xfrm>
            <a:off x="548640" y="443484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Next 3 number"/>
          <p:cNvSpPr txBox="1"/>
          <p:nvPr/>
        </p:nvSpPr>
        <p:spPr>
          <a:xfrm>
            <a:off x="548640" y="4434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Next 3 text"/>
          <p:cNvSpPr txBox="1"/>
          <p:nvPr/>
        </p:nvSpPr>
        <p:spPr>
          <a:xfrm>
            <a:off x="1325880" y="44348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Bring one document each  </a:t>
            </a:r>
            <a:pPr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An email, report or proposal you would like to rewrite in the room</a:t>
            </a:r>
            <a:endParaRPr lang="en-US" sz="1700" dirty="0"/>
          </a:p>
        </p:txBody>
      </p:sp>
      <p:sp>
        <p:nvSpPr>
          <p:cNvPr id="12" name="Contact"/>
          <p:cNvSpPr txBox="1"/>
          <p:nvPr/>
        </p:nvSpPr>
        <p:spPr>
          <a:xfrm>
            <a:off x="548640" y="5760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hello@northlightlearning.example  |  northlightlearning.example  |  Book a 20-minute call</a:t>
            </a:r>
            <a:endParaRPr lang="en-US" sz="1400" dirty="0"/>
          </a:p>
        </p:txBody>
      </p:sp>
      <p:sp>
        <p:nvSpPr>
          <p:cNvPr id="13" name="Disclaimer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6"/>
                </a:solidFill>
              </a:rPr>
              <a:t>Design sample. Brand, client and people are fictional, created for portfolio purposes.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rthlight">
  <a:themeElements>
    <a:clrScheme name="Northlight">
      <a:dk1>
        <a:srgbClr val="1F2933"/>
      </a:dk1>
      <a:lt1>
        <a:srgbClr val="FFFFFF"/>
      </a:lt1>
      <a:dk2>
        <a:srgbClr val="14213D"/>
      </a:dk2>
      <a:lt2>
        <a:srgbClr val="FBF7F0"/>
      </a:lt2>
      <a:accent1>
        <a:srgbClr val="E9B44C"/>
      </a:accent1>
      <a:accent2>
        <a:srgbClr val="2A7F86"/>
      </a:accent2>
      <a:accent3>
        <a:srgbClr val="14213D"/>
      </a:accent3>
      <a:accent4>
        <a:srgbClr val="6B7280"/>
      </a:accent4>
      <a:accent5>
        <a:srgbClr val="E6E1D6"/>
      </a:accent5>
      <a:accent6>
        <a:srgbClr val="9CA3AF"/>
      </a:accent6>
      <a:hlink>
        <a:srgbClr val="2A7F86"/>
      </a:hlink>
      <a:folHlink>
        <a:srgbClr val="6B7280"/>
      </a:folHlink>
    </a:clrScheme>
    <a:fontScheme name="Northligh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Northlight Learning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Writing Essentials: Workshop Overview</dc:title>
  <dc:subject>PptxGenJS Presentation</dc:subject>
  <dc:creator>Saad Bashir</dc:creator>
  <cp:lastModifiedBy>Saad Bashir</cp:lastModifiedBy>
  <cp:revision>1</cp:revision>
  <dcterms:created xsi:type="dcterms:W3CDTF">2026-10-08T05:41:01Z</dcterms:created>
  <dcterms:modified xsi:type="dcterms:W3CDTF">2026-10-08T05:41:01Z</dcterms:modified>
</cp:coreProperties>
</file>